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de0ce7b6-6a43-f95b-8fbc-9c9255ebf726}">
          <p14:sldIdLst>
            <p14:sldId id="256"/>
            <p14:sldId id="257"/>
          </p14:sldIdLst>
        </p14:section>
        <p14:section name="1 観る前の私たち" id="{922988a8-9df6-4de5-ebd1-e7a949d36a1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 観る前→観た後" id="{a6d42bc3-9aa1-feb1-3fbe-7d18cd313c38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3 命と大切なもの" id="{8be32175-d6d8-5f07-cb3a-c833fc97ba69}">
          <p14:sldIdLst>
            <p14:sldId id="270"/>
            <p14:sldId id="271"/>
            <p14:sldId id="272"/>
            <p14:sldId id="273"/>
            <p14:sldId id="274"/>
          </p14:sldIdLst>
        </p14:section>
        <p14:section name="4 インフォームド・コンセント" id="{f139d5bc-f4d3-1778-dc42-05621fd6295a}">
          <p14:sldIdLst>
            <p14:sldId id="275"/>
            <p14:sldId id="276"/>
            <p14:sldId id="277"/>
            <p14:sldId id="278"/>
          </p14:sldIdLst>
        </p14:section>
        <p14:section name="5 社会と私" id="{9ae2485a-41d8-a1ed-cc6b-1051115ea758}">
          <p14:sldIdLst>
            <p14:sldId id="279"/>
            <p14:sldId id="280"/>
            <p14:sldId id="281"/>
            <p14:sldId id="282"/>
          </p14:sldIdLst>
        </p14:section>
        <p14:section name="まとめ" id="{2086998c-df70-8807-db50-40537e8f52f1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C748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2B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骨折の手術</c:v>
                  </c:pt>
                  <c:pt idx="1">
                    <c:v>口唇裂の形成手術</c:v>
                  </c:pt>
                  <c:pt idx="2">
                    <c:v>乳がん術後の乳房再建</c:v>
                  </c:pt>
                  <c:pt idx="3">
                    <c:v>歯列の矯正</c:v>
                  </c:pt>
                  <c:pt idx="4">
                    <c:v>二重まぶた手術</c:v>
                  </c:pt>
                  <c:pt idx="5">
                    <c:v>脱毛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21</c:v>
                </c:pt>
                <c:pt idx="2">
                  <c:v>21</c:v>
                </c:pt>
                <c:pt idx="3">
                  <c:v>18</c:v>
                </c:pt>
                <c:pt idx="4">
                  <c:v>14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2B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2B22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観る前（美容医療）</c:v>
                </c:pt>
              </c:strCache>
            </c:strRef>
          </c:tx>
          <c:spPr>
            <a:solidFill>
              <a:srgbClr val="E9A8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2B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自分も他の人も「あり」</c:v>
                  </c:pt>
                  <c:pt idx="1">
                    <c:v>自分は「なし」・他の人は「あり」</c:v>
                  </c:pt>
                  <c:pt idx="2">
                    <c:v>自分も他の人も「なし」</c:v>
                  </c:pt>
                  <c:pt idx="3">
                    <c:v>自分は「あり」・他の人は「なし」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観た後（美容整形）</c:v>
                </c:pt>
              </c:strCache>
            </c:strRef>
          </c:tx>
          <c:spPr>
            <a:solidFill>
              <a:srgbClr val="4A22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2B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自分も他の人も「あり」</c:v>
                  </c:pt>
                  <c:pt idx="1">
                    <c:v>自分は「なし」・他の人は「あり」</c:v>
                  </c:pt>
                  <c:pt idx="2">
                    <c:v>自分も他の人も「なし」</c:v>
                  </c:pt>
                  <c:pt idx="3">
                    <c:v>自分は「あり」・他の人は「なし」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8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2B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B22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00">
              <a:solidFill>
                <a:srgbClr val="2B22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前回のワークシートと振り返りから、クラスの考えを紹介します。今日は「正解」を出すのではなく、自分とは違う見方に出会うことが目的です。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引用は誤字のみ最小限に整えています。誰の意見かを詮索しないこと、どの意見も否定しないことを最初に確認します。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ラス全員が書いた言葉を大きさでざっくり表しています（大きいほど多い）。ほとんどが「施術名」で、リスクや医療者に関する言葉はゼロでした。これは悪いことではなく、それだけ身近になっている証拠。観た後に何が見えるようになったかを意識しなが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骨折は全員一致。脱毛は8人。グラデーションになっていることに注目させる。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多くの人がこの基準で線を引いていました。とても筋の通った考え方です。では本当にこの基準ですっきり分けられるのか、次のスライドで揺さぶります。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問のねらい：「治す/変える」の線引きは、実は見た目・生きづらさ・本人の苦しみと深く関わっていることに気づかせる。口唇裂も乳房再建も、命には直接関わらないが、その人の生活の質や心にとって重要。では二重まぶたで深く悩む人の苦しみはどうか？『誰が』『何を基準に』病気と決めるのか、を考えさせる。眼瞼下垂（まぶたが下がる病気）は保険診療になる、という例も境界を考える材料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美容医療じゃない名前にした方が良い」という意見への応答にもなる。名前を変えると医療としてのルール（医師が行う、説明と同意など）から外れてしまう、という視点も紹介できる。ワークシートに載せた厚労省サイトをここで改めて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観る前は「美容医療」、観た後は「美容整形」についての問いなので厳密には同じ質問ではない点に注意。観る前は無回答・複数選択が各1人、観た後は無回答4人。「あり」から「自分はなし」へ動いた人が2人、「なし」まで動いた人が1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答えの選択肢は同じでも、「どんな条件なら」を考えられるようになったことが大きな成長。何人かに「あなたの『条件』は？」と聞いてみる。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「自己責任」という言葉はクラスで何度も出てきた。でも、リスクを知らされていない人、理解できていない人、追い詰められて冷静に選べない人に「自己責任」は言えるだろうか？ → これが後半のインフォームド・コンセントにつながる。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くの人が「他人の選択は自由」と答えたが、その他人を具体的な大切な人に置き換えると気持ちが揺れる。揺れること自体が大事。看護師にとって患者さんは『他人』だが、家族にとっては大切な人。その間で、看護師はどう関わ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「特になし」「変わらなかった」と書いた人も、ここで自分の理由を考え直すきっかけに。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記述をもとに教員が3つに分類したもの（無回答5人）。どれも間違いではない。それぞれの理由に注目する。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どちらも「命を大切にしている」点では同じ。前者は生命（いのち）を、後者はその人の生き方・人生を見ている。英語ではどちらも life。看護ではQOL（生活の質）という言葉で語られることを紹介してもよい。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二者択一ではなく第三の道を探す姿勢。また、同じ選択でも状況（回復が見込めるか、終末期か）によって判断が変わる、という視点。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※配慮：ドラマでは患者が自ら命を絶つ場面がある。体調や気持ちがしんどい生徒がいないか表情を見ながら進め、必要なら個別に声をかける。
発問のねらい：危篤状態の緊急時には本人の同意をとる時間がない。だからこそ『事前に』本人の大切なものを知っておくことが大事。豊胸手術を受ける前の診察で、腫瘍の有無を確認していたら？ 本人が胸をどれほど大切にしているかを医療者が知っていたら？ → 次のインフォームド・コンセントへ。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インフォームド・コンセント（説明と同意）。医療者が説明し、患者が理解・納得したうえで自分の意思で決めること。「同意しない（断る）」権利も含まれる。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インフォームド・コンセントは、医療者が一方的に説明するだけではない。患者の価値観を聴くことが含まれる。生徒自身の言葉で、すでにその本質に迫っていることを伝えて称える。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看護職には、患者の意思決定を支援し、患者の思いを代弁する（アドボカシー）役割がある。看護科の生徒として、ドラマの中に看護師がいたら何ができたかを想像させてもよい。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具体的な部位には触れない（個人が特定されないよう配慮）。「自分のため」の理由が多い一方で、「周りの目」を理由にした声もある。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ルッキズム（外見至上主義）の視点。自分で選んだつもりの「理想」も、SNSや広告、周りの言葉の影響を受けている。それでも本人の苦しみは本物。両方を同時に見る力が大切。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「周りが人の容姿を自分の価値観でとやかく言う権利はない」という言葉も同じ生徒から。小さな行動（見た目をいじらない、SNSでの言葉を選ぶ等）から考えさせる。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3つの問いはPART1〜3に対応。最後に振り返りシートに「今日、友だちの意見で一番揺さぶられたもの」を書かせる。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次回の予告。振り返りの問いを書かせて終了。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E9A8C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E9A8C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aesthetic-medicine-caution.mhlw.go.jp/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「ダウンタイム」を観て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みんなが考えたこと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振り返りフィードバック ― 看護科 2年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今日のねらい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友だちの言葉で、自分の考えを一歩深める</a:t>
            </a:r>
            <a:endParaRPr lang="en-US" sz="3600" dirty="0"/>
          </a:p>
        </p:txBody>
      </p:sp>
      <p:sp>
        <p:nvSpPr>
          <p:cNvPr id="4" name="icon-circle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146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874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自分が気づかなかった見方に出会う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同じドラマでも、心に残った場面も理由も人それぞれ</a:t>
            </a:r>
            <a:endParaRPr lang="en-US" sz="2000" dirty="0"/>
          </a:p>
        </p:txBody>
      </p:sp>
      <p:sp>
        <p:nvSpPr>
          <p:cNvPr id="8" name="icon-circle"/>
          <p:cNvSpPr/>
          <p:nvPr/>
        </p:nvSpPr>
        <p:spPr>
          <a:xfrm>
            <a:off x="822960" y="3108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7" y="333481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「なぜそう思う？」をもう一段深く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答えが同じでも、理由の深さはちがう</a:t>
            </a:r>
            <a:endParaRPr lang="en-US" sz="2000" dirty="0"/>
          </a:p>
        </p:txBody>
      </p:sp>
      <p:sp>
        <p:nvSpPr>
          <p:cNvPr id="12" name="icon-circle"/>
          <p:cNvSpPr/>
          <p:nvPr/>
        </p:nvSpPr>
        <p:spPr>
          <a:xfrm>
            <a:off x="822960" y="42976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452353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11680" y="4251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看護職をめざす立場で考える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2011680" y="4800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患者さんの「大切なもの」にどう向き合うか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※ 紹介する意見はすべて匿名です。「誰が書いたか」は探さないでください。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C1"/>
                </a:solidFill>
              </a:rPr>
              <a:t>PART 1</a:t>
            </a:r>
            <a:endParaRPr lang="en-US" sz="2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観る前の私たち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「美容医療」ってどんなイメージだった？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1 観る前の私たち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「美容医療」と聞いて思い浮かんだ言葉</a:t>
            </a:r>
            <a:endParaRPr lang="en-US" sz="3600" dirty="0"/>
          </a:p>
        </p:txBody>
      </p:sp>
      <p:sp>
        <p:nvSpPr>
          <p:cNvPr id="4" name="word"/>
          <p:cNvSpPr txBox="1"/>
          <p:nvPr/>
        </p:nvSpPr>
        <p:spPr>
          <a:xfrm>
            <a:off x="82296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整形</a:t>
            </a:r>
            <a:endParaRPr lang="en-US" sz="5400" dirty="0"/>
          </a:p>
        </p:txBody>
      </p:sp>
      <p:sp>
        <p:nvSpPr>
          <p:cNvPr id="5" name="word"/>
          <p:cNvSpPr txBox="1"/>
          <p:nvPr/>
        </p:nvSpPr>
        <p:spPr>
          <a:xfrm>
            <a:off x="3017520" y="1965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脱毛</a:t>
            </a:r>
            <a:endParaRPr lang="en-US" sz="4400" dirty="0"/>
          </a:p>
        </p:txBody>
      </p:sp>
      <p:sp>
        <p:nvSpPr>
          <p:cNvPr id="6" name="word"/>
          <p:cNvSpPr txBox="1"/>
          <p:nvPr/>
        </p:nvSpPr>
        <p:spPr>
          <a:xfrm>
            <a:off x="4846320" y="2011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脂肪吸引</a:t>
            </a:r>
            <a:endParaRPr lang="en-US" sz="4000" dirty="0"/>
          </a:p>
        </p:txBody>
      </p:sp>
      <p:sp>
        <p:nvSpPr>
          <p:cNvPr id="7" name="word"/>
          <p:cNvSpPr txBox="1"/>
          <p:nvPr/>
        </p:nvSpPr>
        <p:spPr>
          <a:xfrm>
            <a:off x="7589520" y="2057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二重</a:t>
            </a:r>
            <a:endParaRPr lang="en-US" sz="3400" dirty="0"/>
          </a:p>
        </p:txBody>
      </p:sp>
      <p:sp>
        <p:nvSpPr>
          <p:cNvPr id="8" name="word"/>
          <p:cNvSpPr txBox="1"/>
          <p:nvPr/>
        </p:nvSpPr>
        <p:spPr>
          <a:xfrm>
            <a:off x="822960" y="2971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ボトックス</a:t>
            </a:r>
            <a:endParaRPr lang="en-US" sz="3000" dirty="0"/>
          </a:p>
        </p:txBody>
      </p:sp>
      <p:sp>
        <p:nvSpPr>
          <p:cNvPr id="9" name="word"/>
          <p:cNvSpPr txBox="1"/>
          <p:nvPr/>
        </p:nvSpPr>
        <p:spPr>
          <a:xfrm>
            <a:off x="365760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ヒアルロン酸</a:t>
            </a:r>
            <a:endParaRPr lang="en-US" sz="2800" dirty="0"/>
          </a:p>
        </p:txBody>
      </p:sp>
      <p:sp>
        <p:nvSpPr>
          <p:cNvPr id="10" name="word"/>
          <p:cNvSpPr txBox="1"/>
          <p:nvPr/>
        </p:nvSpPr>
        <p:spPr>
          <a:xfrm>
            <a:off x="6949440" y="30358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綺麗にする</a:t>
            </a:r>
            <a:endParaRPr lang="en-US" sz="2600" dirty="0"/>
          </a:p>
        </p:txBody>
      </p:sp>
      <p:sp>
        <p:nvSpPr>
          <p:cNvPr id="11" name="word"/>
          <p:cNvSpPr txBox="1"/>
          <p:nvPr/>
        </p:nvSpPr>
        <p:spPr>
          <a:xfrm>
            <a:off x="9509760" y="30358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豊胸</a:t>
            </a:r>
            <a:endParaRPr lang="en-US" sz="2600" dirty="0"/>
          </a:p>
        </p:txBody>
      </p:sp>
      <p:sp>
        <p:nvSpPr>
          <p:cNvPr id="12" name="word"/>
          <p:cNvSpPr txBox="1"/>
          <p:nvPr/>
        </p:nvSpPr>
        <p:spPr>
          <a:xfrm>
            <a:off x="82296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高い</a:t>
            </a:r>
            <a:endParaRPr lang="en-US" sz="2200" dirty="0"/>
          </a:p>
        </p:txBody>
      </p:sp>
      <p:sp>
        <p:nvSpPr>
          <p:cNvPr id="13" name="word"/>
          <p:cNvSpPr txBox="1"/>
          <p:nvPr/>
        </p:nvSpPr>
        <p:spPr>
          <a:xfrm>
            <a:off x="23774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お金持ち</a:t>
            </a:r>
            <a:endParaRPr lang="en-US" sz="2200" dirty="0"/>
          </a:p>
        </p:txBody>
      </p:sp>
      <p:sp>
        <p:nvSpPr>
          <p:cNvPr id="14" name="word"/>
          <p:cNvSpPr txBox="1"/>
          <p:nvPr/>
        </p:nvSpPr>
        <p:spPr>
          <a:xfrm>
            <a:off x="448056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コンプレックスを治す</a:t>
            </a:r>
            <a:endParaRPr lang="en-US" sz="2200" dirty="0"/>
          </a:p>
        </p:txBody>
      </p:sp>
      <p:sp>
        <p:nvSpPr>
          <p:cNvPr id="15" name="word"/>
          <p:cNvSpPr txBox="1"/>
          <p:nvPr/>
        </p:nvSpPr>
        <p:spPr>
          <a:xfrm>
            <a:off x="822960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顔変わる</a:t>
            </a:r>
            <a:endParaRPr lang="en-US" sz="2200" dirty="0"/>
          </a:p>
        </p:txBody>
      </p:sp>
      <p:sp>
        <p:nvSpPr>
          <p:cNvPr id="16" name="callout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9677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「リスク」「失敗」「医師」「病院」と書いた人は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0人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観る前は「何ができるか（技術）」が中心。観た後、何が見えるようになった？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1 観る前の私たち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「医療」だと思うのはどれ？（26人が回答）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ide-card"/>
          <p:cNvSpPr/>
          <p:nvPr/>
        </p:nvSpPr>
        <p:spPr>
          <a:xfrm>
            <a:off x="7955280" y="1828800"/>
            <a:ext cx="3566160" cy="42976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201168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全員一致は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「骨折」だけ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そのほかは「どこで線を引くか」が一人ひとり違った。</a:t>
            </a:r>
            <a:endParaRPr lang="en-US" sz="3000" dirty="0"/>
          </a:p>
          <a:p>
            <a:pPr indent="0" marL="0"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医療とそうでないものの線は、何で決まる？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1 観る前の私たち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みんなは何を基準に線を引いた？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怪我とか生まれつきの病気を「治したり戻したり」しているもの。選んでないのは、病気じゃなくて自分の意思や見た目の変換をしているから。</a:t>
            </a:r>
            <a:endParaRPr lang="en-US" sz="2400" dirty="0"/>
          </a:p>
        </p:txBody>
      </p:sp>
      <p:sp>
        <p:nvSpPr>
          <p:cNvPr id="8" name="quote-card"/>
          <p:cNvSpPr/>
          <p:nvPr/>
        </p:nvSpPr>
        <p:spPr>
          <a:xfrm>
            <a:off x="640080" y="3611880"/>
            <a:ext cx="1088136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02884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1645920" y="38404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綺麗になりたい人の手伝いをしているのが美容。でも、医療ではないから「美容医療」じゃない名前にした方が良い。</a:t>
            </a:r>
            <a:endParaRPr lang="en-US" sz="2400" dirty="0"/>
          </a:p>
        </p:txBody>
      </p:sp>
      <p:sp>
        <p:nvSpPr>
          <p:cNvPr id="12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「治す・戻す」は医療、「変える」は医療じゃない？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考えてみよう ― となりの人と 2分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口唇裂の形成手術も、乳房再建も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「見た目」を整える手術。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二重まぶた手術と、何がちがう？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ヒント：ドラマの問い「この世界に病気じゃない人なんていない？」</a:t>
            </a:r>
            <a:endParaRPr lang="en-US" sz="2400" dirty="0"/>
          </a:p>
        </p:txBody>
      </p:sp>
      <p:sp>
        <p:nvSpPr>
          <p:cNvPr id="5" name="q-circle"/>
          <p:cNvSpPr/>
          <p:nvPr/>
        </p:nvSpPr>
        <p:spPr>
          <a:xfrm>
            <a:off x="10241280" y="365760"/>
            <a:ext cx="1280160" cy="128016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858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1 観る前の私たち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知っておこう：美容医療も「医療」です</a:t>
            </a:r>
            <a:endParaRPr lang="en-US" sz="3600" dirty="0"/>
          </a:p>
        </p:txBody>
      </p:sp>
      <p:sp>
        <p:nvSpPr>
          <p:cNvPr id="4" name="icon-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008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373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医師だけが行える「医療行為」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2860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メスを入れる・注射をする・レーザーを当てる ― 美容目的でも医療</a:t>
            </a:r>
            <a:endParaRPr lang="en-US" sz="2000" dirty="0"/>
          </a:p>
        </p:txBody>
      </p:sp>
      <p:sp>
        <p:nvSpPr>
          <p:cNvPr id="8" name="icon-circle"/>
          <p:cNvSpPr/>
          <p:nvPr/>
        </p:nvSpPr>
        <p:spPr>
          <a:xfrm>
            <a:off x="822960" y="2971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7" y="319765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29260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多くは「自由診療」（保険がきかない）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34747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料金はクリニックが決める。だから広告や価格の競争も起きる</a:t>
            </a:r>
            <a:endParaRPr lang="en-US" sz="2000" dirty="0"/>
          </a:p>
        </p:txBody>
      </p:sp>
      <p:sp>
        <p:nvSpPr>
          <p:cNvPr id="12" name="icon-circle"/>
          <p:cNvSpPr/>
          <p:nvPr/>
        </p:nvSpPr>
        <p:spPr>
          <a:xfrm>
            <a:off x="822960" y="41605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438637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11680" y="41148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だからこそ「説明と同意」が欠かせない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2011680" y="46634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病気の治療ではない分、本人が納得して選ぶことがより大切に</a:t>
            </a:r>
            <a:endParaRPr lang="en-US" sz="2000" dirty="0"/>
          </a:p>
        </p:txBody>
      </p:sp>
      <p:sp>
        <p:nvSpPr>
          <p:cNvPr id="16" name="Text 11">
            <a:hlinkClick r:id="rId4" tooltip=""/>
          </p:cNvPr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厚生労働省「美容医療を受ける前に」 https://aesthetic-medicine-caution.mhlw.go.jp/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C1"/>
                </a:solidFill>
              </a:rPr>
              <a:t>PART 2</a:t>
            </a:r>
            <a:endParaRPr lang="en-US" sz="2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観る前 → 観た後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考えは変わった？ 変わらなかった？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2 観る前 → 観た後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選んだ答えは、あまり変わらなかった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7223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ide-card"/>
          <p:cNvSpPr/>
          <p:nvPr/>
        </p:nvSpPr>
        <p:spPr>
          <a:xfrm>
            <a:off x="8138160" y="1783080"/>
            <a:ext cx="3383280" cy="443484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965960"/>
            <a:ext cx="2971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「自分はあり・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他の人はなし」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前も後も0人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「他の人の選択は否定しない」がクラスの共通点。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でも、変わったのは数字より「理由」だった。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2 観る前 → 観た後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答えは同じ「あり」でも、理由が変わった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観る前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645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観た後</a:t>
            </a:r>
            <a:endParaRPr lang="en-US" sz="2000" dirty="0"/>
          </a:p>
        </p:txBody>
      </p:sp>
      <p:sp>
        <p:nvSpPr>
          <p:cNvPr id="6" name="before"/>
          <p:cNvSpPr/>
          <p:nvPr/>
        </p:nvSpPr>
        <p:spPr>
          <a:xfrm>
            <a:off x="640080" y="210312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F1EE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好きな自分になれるならいい</a:t>
            </a:r>
            <a:endParaRPr lang="en-US" sz="2000" dirty="0"/>
          </a:p>
        </p:txBody>
      </p:sp>
      <p:sp>
        <p:nvSpPr>
          <p:cNvPr id="8" name="arrow"/>
          <p:cNvSpPr/>
          <p:nvPr/>
        </p:nvSpPr>
        <p:spPr>
          <a:xfrm>
            <a:off x="5303520" y="2395728"/>
            <a:ext cx="457200" cy="38404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after"/>
          <p:cNvSpPr/>
          <p:nvPr/>
        </p:nvSpPr>
        <p:spPr>
          <a:xfrm>
            <a:off x="5852160" y="210312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210312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ちゃんと検査とかしてから手術した方がいい</a:t>
            </a:r>
            <a:endParaRPr lang="en-US" sz="2000" dirty="0"/>
          </a:p>
        </p:txBody>
      </p:sp>
      <p:sp>
        <p:nvSpPr>
          <p:cNvPr id="11" name="before"/>
          <p:cNvSpPr/>
          <p:nvPr/>
        </p:nvSpPr>
        <p:spPr>
          <a:xfrm>
            <a:off x="640080" y="3218688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F1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21868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気になるなら整形したらいいじゃん</a:t>
            </a:r>
            <a:endParaRPr lang="en-US" sz="2000" dirty="0"/>
          </a:p>
        </p:txBody>
      </p:sp>
      <p:sp>
        <p:nvSpPr>
          <p:cNvPr id="13" name="arrow"/>
          <p:cNvSpPr/>
          <p:nvPr/>
        </p:nvSpPr>
        <p:spPr>
          <a:xfrm>
            <a:off x="5303520" y="3511296"/>
            <a:ext cx="457200" cy="38404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after"/>
          <p:cNvSpPr/>
          <p:nvPr/>
        </p:nvSpPr>
        <p:spPr>
          <a:xfrm>
            <a:off x="5852160" y="3218688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0760" y="3218688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命を守るためにシリコンを抜いて、そこまで追い込まれるならだめ</a:t>
            </a:r>
            <a:endParaRPr lang="en-US" sz="2000" dirty="0"/>
          </a:p>
        </p:txBody>
      </p:sp>
      <p:sp>
        <p:nvSpPr>
          <p:cNvPr id="16" name="before"/>
          <p:cNvSpPr/>
          <p:nvPr/>
        </p:nvSpPr>
        <p:spPr>
          <a:xfrm>
            <a:off x="640080" y="4334256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F1EE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34256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自分の好きなようにしたらいいやん</a:t>
            </a:r>
            <a:endParaRPr lang="en-US" sz="2000" dirty="0"/>
          </a:p>
        </p:txBody>
      </p:sp>
      <p:sp>
        <p:nvSpPr>
          <p:cNvPr id="18" name="arrow"/>
          <p:cNvSpPr/>
          <p:nvPr/>
        </p:nvSpPr>
        <p:spPr>
          <a:xfrm>
            <a:off x="5303520" y="4626864"/>
            <a:ext cx="457200" cy="38404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after"/>
          <p:cNvSpPr/>
          <p:nvPr/>
        </p:nvSpPr>
        <p:spPr>
          <a:xfrm>
            <a:off x="5852160" y="4334256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80760" y="433425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失敗した時に感情をコントロールできて、依存しないならやってもいい</a:t>
            </a:r>
            <a:endParaRPr lang="en-US" sz="2000" dirty="0"/>
          </a:p>
        </p:txBody>
      </p:sp>
      <p:sp>
        <p:nvSpPr>
          <p:cNvPr id="21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2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「好きにすれば」から「条件つきのあり」へ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2 観る前 → 観た後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「自己責任」をもう一歩深く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整形は本人の自己責任だから好きにすれば良いと思ってたけど、患者が納得いかず文句を言えば、医者は理不尽に炎上してしまう。「したければすれば良い」も簡単には言えないと思った。</a:t>
            </a:r>
            <a:endParaRPr lang="en-US" sz="2200" dirty="0"/>
          </a:p>
        </p:txBody>
      </p:sp>
      <p:sp>
        <p:nvSpPr>
          <p:cNvPr id="8" name="quote-card"/>
          <p:cNvSpPr/>
          <p:nvPr/>
        </p:nvSpPr>
        <p:spPr>
          <a:xfrm>
            <a:off x="640080" y="3611880"/>
            <a:ext cx="10881360" cy="160020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/>
        </p:spPr>
      </p:sp>
      <p:sp>
        <p:nvSpPr>
          <p:cNvPr id="9" name="icon-circle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02884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1645920" y="38404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本人が生きやすくなるなら良い。そのことによって起こるリスクや問題について、しっかりと理解しているなら。</a:t>
            </a:r>
            <a:endParaRPr lang="en-US" sz="2200" dirty="0"/>
          </a:p>
        </p:txBody>
      </p:sp>
      <p:sp>
        <p:nvSpPr>
          <p:cNvPr id="12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「自己責任」は、十分に知って・理解して選んだときに成り立つ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考えてみよう ― となりの人と 2分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「他の人がするのはあり」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その「他の人」が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家族や親友だったら？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「仲の良い人や家族だったらやって欲しくない。でも私はその人の気持ちを大切にしたい」（クラスの声）</a:t>
            </a:r>
            <a:endParaRPr lang="en-US" sz="2400" dirty="0"/>
          </a:p>
        </p:txBody>
      </p:sp>
      <p:sp>
        <p:nvSpPr>
          <p:cNvPr id="5" name="q-circle"/>
          <p:cNvSpPr/>
          <p:nvPr/>
        </p:nvSpPr>
        <p:spPr>
          <a:xfrm>
            <a:off x="10241280" y="365760"/>
            <a:ext cx="1280160" cy="128016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858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2 観る前 → 観た後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「変わらなかった」も立派な答え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2240280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観る前から他の人の整形は肯定していて、ドラマを見ても考えは変わらなかった。相手がどれだけ自分の顔や体型について悩み、苦労して、その辛さを改善するためにとった行動に対して、僕の考えを強要するような理不尽なことはしたくないので。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自分はしない。でも、相手の悩みの重さは自分にはわからない 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だから否定しない。理由がはっきり言葉になっています。</a:t>
            </a:r>
            <a:endParaRPr lang="en-US" sz="2200" dirty="0"/>
          </a:p>
        </p:txBody>
      </p:sp>
      <p:sp>
        <p:nvSpPr>
          <p:cNvPr id="9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0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大事なのは「変わったか」ではなく「理由を言えるか」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C1"/>
                </a:solidFill>
              </a:rPr>
              <a:t>PART 3</a:t>
            </a:r>
            <a:endParaRPr lang="en-US" sz="2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命と、大切なもの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ぶつかったとき、どう判断する？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3 命と、大切なもの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22人の判断は、大きく3つに分かれた</a:t>
            </a:r>
            <a:endParaRPr lang="en-US" sz="3600" dirty="0"/>
          </a:p>
        </p:txBody>
      </p:sp>
      <p:sp>
        <p:nvSpPr>
          <p:cNvPr id="4" name="group-card"/>
          <p:cNvSpPr/>
          <p:nvPr/>
        </p:nvSpPr>
        <p:spPr>
          <a:xfrm>
            <a:off x="640080" y="178308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10人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命を最優先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97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「命がないと、大切にしていることさえ守れない」</a:t>
            </a:r>
            <a:endParaRPr lang="en-US" sz="2000" dirty="0"/>
          </a:p>
        </p:txBody>
      </p:sp>
      <p:sp>
        <p:nvSpPr>
          <p:cNvPr id="8" name="group-card"/>
          <p:cNvSpPr/>
          <p:nvPr/>
        </p:nvSpPr>
        <p:spPr>
          <a:xfrm>
            <a:off x="4343400" y="178308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8人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命を守りつつ、本人の思いも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297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「まず対話する」「治ってから安全に」</a:t>
            </a:r>
            <a:endParaRPr lang="en-US" sz="2000" dirty="0"/>
          </a:p>
        </p:txBody>
      </p:sp>
      <p:sp>
        <p:nvSpPr>
          <p:cNvPr id="12" name="group-card"/>
          <p:cNvSpPr/>
          <p:nvPr/>
        </p:nvSpPr>
        <p:spPr>
          <a:xfrm>
            <a:off x="8046720" y="178308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EDE4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4人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本人の価値観を尊重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2976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「その人が今後どうしたいかを聞き、合わせる」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3 命と、大切なもの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2つの声を並べてみると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5303520" cy="34747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命は1番大事。命を失うと、大事なものなど何にも変えられない。命がないと、その人が大切にしていることさえ守ることができないから。</a:t>
            </a:r>
            <a:endParaRPr lang="en-US" sz="2200" dirty="0"/>
          </a:p>
        </p:txBody>
      </p:sp>
      <p:sp>
        <p:nvSpPr>
          <p:cNvPr id="8" name="quote-card"/>
          <p:cNvSpPr/>
          <p:nvPr/>
        </p:nvSpPr>
        <p:spPr>
          <a:xfrm>
            <a:off x="6217920" y="1783080"/>
            <a:ext cx="5303520" cy="3474720"/>
          </a:xfrm>
          <a:prstGeom prst="roundRect">
            <a:avLst>
              <a:gd name="adj" fmla="val 3947"/>
            </a:avLst>
          </a:prstGeom>
          <a:solidFill>
            <a:schemeClr val="accent5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220004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7223760" y="20116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命や体を大切にしている人もいれば、命よりも大切なものがある人もいる。自分が自分らしく生きていくための選択は、患者によって違うから。</a:t>
            </a:r>
            <a:endParaRPr lang="en-US" sz="2200" dirty="0"/>
          </a:p>
        </p:txBody>
      </p:sp>
      <p:sp>
        <p:nvSpPr>
          <p:cNvPr id="12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「命を守る」の“命”って、何のこと？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3 命と、大切なもの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「どちらか」を選ぶ前にできること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どちらか一方だけを切り捨てることはできない。まずは本人が「何にそれほどこだわっているのか」を深く対話し、命を守りながらも大切なものを残せる代替案を必死に探す。</a:t>
            </a:r>
            <a:endParaRPr lang="en-US" sz="2200" dirty="0"/>
          </a:p>
        </p:txBody>
      </p:sp>
      <p:sp>
        <p:nvSpPr>
          <p:cNvPr id="8" name="quote-card"/>
          <p:cNvSpPr/>
          <p:nvPr/>
        </p:nvSpPr>
        <p:spPr>
          <a:xfrm>
            <a:off x="640080" y="3794760"/>
            <a:ext cx="10881360" cy="1463040"/>
          </a:xfrm>
          <a:prstGeom prst="roundRect">
            <a:avLst>
              <a:gd name="adj" fmla="val 9375"/>
            </a:avLst>
          </a:prstGeom>
          <a:solidFill>
            <a:schemeClr val="accent5"/>
          </a:solidFill>
          <a:ln/>
        </p:spPr>
      </p:sp>
      <p:sp>
        <p:nvSpPr>
          <p:cNvPr id="9" name="icon-circle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21172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1645920" y="4023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してもしなくても死にゆく未来なら、本人が悔いなく旅立てるように、やれることはさせてあげたい。</a:t>
            </a:r>
            <a:endParaRPr lang="en-US" sz="2200" dirty="0"/>
          </a:p>
        </p:txBody>
      </p:sp>
      <p:sp>
        <p:nvSpPr>
          <p:cNvPr id="12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答えは「対話」と「その人の状況」によって変わる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グループで考えよう ― 4人で 5分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「シリコンだけは抜かないで」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手術の前に、どんな対話が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できていたらよかった？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誰が・いつ・何を聞いておく？　あなたが看護師なら？</a:t>
            </a:r>
            <a:endParaRPr lang="en-US" sz="2400" dirty="0"/>
          </a:p>
        </p:txBody>
      </p:sp>
      <p:sp>
        <p:nvSpPr>
          <p:cNvPr id="5" name="q-circle"/>
          <p:cNvSpPr/>
          <p:nvPr/>
        </p:nvSpPr>
        <p:spPr>
          <a:xfrm>
            <a:off x="10241280" y="365760"/>
            <a:ext cx="1280160" cy="128016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858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C1"/>
                </a:solidFill>
              </a:rPr>
              <a:t>PART 4</a:t>
            </a:r>
            <a:endParaRPr lang="en-US" sz="2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インフォームド・コンセント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「同意書にサイン」のことではない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4 インフォームド・コンセント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インフォームド・コンセント ＝ 4つのステップ</a:t>
            </a:r>
            <a:endParaRPr lang="en-US" sz="3600" dirty="0"/>
          </a:p>
        </p:txBody>
      </p:sp>
      <p:sp>
        <p:nvSpPr>
          <p:cNvPr id="4" name="step-card"/>
          <p:cNvSpPr/>
          <p:nvPr/>
        </p:nvSpPr>
        <p:spPr>
          <a:xfrm>
            <a:off x="640080" y="1828800"/>
            <a:ext cx="2560320" cy="3429000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/>
        </p:spPr>
      </p:sp>
      <p:sp>
        <p:nvSpPr>
          <p:cNvPr id="5" name="step-num"/>
          <p:cNvSpPr/>
          <p:nvPr/>
        </p:nvSpPr>
        <p:spPr>
          <a:xfrm>
            <a:off x="150876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説明を受ける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目的・リスク・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ほかの方法</a:t>
            </a:r>
            <a:endParaRPr lang="en-US" sz="2000" dirty="0"/>
          </a:p>
        </p:txBody>
      </p:sp>
      <p:sp>
        <p:nvSpPr>
          <p:cNvPr id="9" name="step-card"/>
          <p:cNvSpPr/>
          <p:nvPr/>
        </p:nvSpPr>
        <p:spPr>
          <a:xfrm>
            <a:off x="3429000" y="1828800"/>
            <a:ext cx="2560320" cy="3429000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/>
        </p:spPr>
      </p:sp>
      <p:sp>
        <p:nvSpPr>
          <p:cNvPr id="10" name="step-num"/>
          <p:cNvSpPr/>
          <p:nvPr/>
        </p:nvSpPr>
        <p:spPr>
          <a:xfrm>
            <a:off x="429768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理解する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わからないことを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質問できる</a:t>
            </a:r>
            <a:endParaRPr lang="en-US" sz="2000" dirty="0"/>
          </a:p>
        </p:txBody>
      </p:sp>
      <p:sp>
        <p:nvSpPr>
          <p:cNvPr id="14" name="step-card"/>
          <p:cNvSpPr/>
          <p:nvPr/>
        </p:nvSpPr>
        <p:spPr>
          <a:xfrm>
            <a:off x="6217920" y="1828800"/>
            <a:ext cx="2560320" cy="3429000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/>
        </p:spPr>
      </p:sp>
      <p:sp>
        <p:nvSpPr>
          <p:cNvPr id="15" name="step-num"/>
          <p:cNvSpPr/>
          <p:nvPr/>
        </p:nvSpPr>
        <p:spPr>
          <a:xfrm>
            <a:off x="7086600" y="20574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866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納得する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自分の大切な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ものと照らす</a:t>
            </a:r>
            <a:endParaRPr lang="en-US" sz="2000" dirty="0"/>
          </a:p>
        </p:txBody>
      </p:sp>
      <p:sp>
        <p:nvSpPr>
          <p:cNvPr id="19" name="step-card"/>
          <p:cNvSpPr/>
          <p:nvPr/>
        </p:nvSpPr>
        <p:spPr>
          <a:xfrm>
            <a:off x="9006840" y="1828800"/>
            <a:ext cx="2560320" cy="342900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0" name="step-num"/>
          <p:cNvSpPr/>
          <p:nvPr/>
        </p:nvSpPr>
        <p:spPr>
          <a:xfrm>
            <a:off x="9875520" y="2057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自分で選ぶ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794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「同意しない」も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選べる</a:t>
            </a:r>
            <a:endParaRPr lang="en-US" sz="2000" dirty="0"/>
          </a:p>
        </p:txBody>
      </p:sp>
      <p:sp>
        <p:nvSpPr>
          <p:cNvPr id="24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5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サインはゴールではなく、この4つがそろった「しるし」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4 インフォームド・コンセント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クラスの中に、すでに答えのヒントがあった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患者の命の優先順位や、何が嬉しいことなのか ― 価値観を知らないと、知らないうちに患者を追い詰めてしまう。コミュニケーションをとって患者について知っていく努力が重要。</a:t>
            </a:r>
            <a:endParaRPr lang="en-US" sz="2200" dirty="0"/>
          </a:p>
        </p:txBody>
      </p:sp>
      <p:sp>
        <p:nvSpPr>
          <p:cNvPr id="8" name="quote-card"/>
          <p:cNvSpPr/>
          <p:nvPr/>
        </p:nvSpPr>
        <p:spPr>
          <a:xfrm>
            <a:off x="640080" y="3794760"/>
            <a:ext cx="10881360" cy="1463040"/>
          </a:xfrm>
          <a:prstGeom prst="roundRect">
            <a:avLst>
              <a:gd name="adj" fmla="val 9375"/>
            </a:avLst>
          </a:prstGeom>
          <a:solidFill>
            <a:schemeClr val="accent5"/>
          </a:solidFill>
          <a:ln/>
        </p:spPr>
      </p:sp>
      <p:sp>
        <p:nvSpPr>
          <p:cNvPr id="9" name="icon-circle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21172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1645920" y="4023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最後は患者の意志が大切。これまで大切にしてきたことや考えを、しっかり聞いて受け止めて尊重すること。</a:t>
            </a:r>
            <a:endParaRPr lang="en-US" sz="2200" dirty="0"/>
          </a:p>
        </p:txBody>
      </p:sp>
      <p:sp>
        <p:nvSpPr>
          <p:cNvPr id="12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医療者は「情報」を、患者は「大切なもの」を ― 対話は双方向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4 インフォームド・コンセント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看護師だからできること</a:t>
            </a:r>
            <a:endParaRPr lang="en-US" sz="3600" dirty="0"/>
          </a:p>
        </p:txBody>
      </p:sp>
      <p:sp>
        <p:nvSpPr>
          <p:cNvPr id="4" name="icon-circle"/>
          <p:cNvSpPr/>
          <p:nvPr/>
        </p:nvSpPr>
        <p:spPr>
          <a:xfrm>
            <a:off x="822960" y="192024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300630"/>
            <a:ext cx="702259" cy="7022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0" y="178308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医師の説明のあと、患者さんのいちばん近くにいるのは看護師。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</a:rPr>
              <a:t>「本当はよくわかっていない」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</a:rPr>
              <a:t>「本当はまだ迷っている」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</a:rPr>
              <a:t>「誰にも言えない大切なものがある」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そんな声に気づき、医師や家族につなぐことができる。</a:t>
            </a:r>
            <a:endParaRPr lang="en-US" sz="2400" dirty="0"/>
          </a:p>
        </p:txBody>
      </p:sp>
      <p:sp>
        <p:nvSpPr>
          <p:cNvPr id="7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8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看護師は、患者さんの「選ぶ」を支える人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80720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A8C1"/>
                </a:solidFill>
              </a:rPr>
              <a:t>PART 5</a:t>
            </a:r>
            <a:endParaRPr lang="en-US" sz="2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108960" y="23774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社会と、私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108960" y="3566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そのコンプレックスはどこから来た？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9A8C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5 社会と、私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「直せるなら直したい」と答えた人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</a:rPr>
              <a:t>19</a:t>
            </a:r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 / 25人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その理由として書かれた言葉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自信が持てる・自分を好きになれる・堂々と笑える・コンプレックスがなくなる</a:t>
            </a:r>
            <a:endParaRPr lang="en-US" sz="2200" dirty="0"/>
          </a:p>
        </p:txBody>
      </p:sp>
      <p:sp>
        <p:nvSpPr>
          <p:cNvPr id="7" name="quote-card"/>
          <p:cNvSpPr/>
          <p:nvPr/>
        </p:nvSpPr>
        <p:spPr>
          <a:xfrm>
            <a:off x="5943600" y="1783080"/>
            <a:ext cx="557784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/>
        </p:spPr>
      </p:sp>
      <p:sp>
        <p:nvSpPr>
          <p:cNvPr id="8" name="icon-circle"/>
          <p:cNvSpPr/>
          <p:nvPr/>
        </p:nvSpPr>
        <p:spPr>
          <a:xfrm>
            <a:off x="621792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0566" y="2200046"/>
            <a:ext cx="263347" cy="263347"/>
          </a:xfrm>
          <a:prstGeom prst="rect">
            <a:avLst/>
          </a:prstGeom>
        </p:spPr>
      </p:pic>
      <p:sp>
        <p:nvSpPr>
          <p:cNvPr id="10" name="quote-text"/>
          <p:cNvSpPr txBox="1"/>
          <p:nvPr/>
        </p:nvSpPr>
        <p:spPr>
          <a:xfrm>
            <a:off x="6949440" y="201168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差別の目で見られないで、周りの人達と溶け込むことができるため。</a:t>
            </a:r>
            <a:endParaRPr lang="en-US" sz="2200" dirty="0"/>
          </a:p>
        </p:txBody>
      </p:sp>
      <p:sp>
        <p:nvSpPr>
          <p:cNvPr id="11" name="quote-card"/>
          <p:cNvSpPr/>
          <p:nvPr/>
        </p:nvSpPr>
        <p:spPr>
          <a:xfrm>
            <a:off x="5943600" y="3931920"/>
            <a:ext cx="5577840" cy="1965960"/>
          </a:xfrm>
          <a:prstGeom prst="roundRect">
            <a:avLst>
              <a:gd name="adj" fmla="val 6977"/>
            </a:avLst>
          </a:prstGeom>
          <a:solidFill>
            <a:schemeClr val="accent5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6217920" y="4206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66" y="4348886"/>
            <a:ext cx="263347" cy="263347"/>
          </a:xfrm>
          <a:prstGeom prst="rect">
            <a:avLst/>
          </a:prstGeom>
        </p:spPr>
      </p:pic>
      <p:sp>
        <p:nvSpPr>
          <p:cNvPr id="14" name="quote-text"/>
          <p:cNvSpPr txBox="1"/>
          <p:nvPr/>
        </p:nvSpPr>
        <p:spPr>
          <a:xfrm>
            <a:off x="6949440" y="416052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努力でなんとかなるものなら、一旦自分で頑張ってみることが大事だと思う。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PART 5 社会と、私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「理想の顔」の基準は、誰が決めた？</a:t>
            </a:r>
            <a:endParaRPr lang="en-US" sz="3600" dirty="0"/>
          </a:p>
        </p:txBody>
      </p:sp>
      <p:sp>
        <p:nvSpPr>
          <p:cNvPr id="4" name="quote-card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quote-text"/>
          <p:cNvSpPr txBox="1"/>
          <p:nvPr/>
        </p:nvSpPr>
        <p:spPr>
          <a:xfrm>
            <a:off x="164592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SNSで知らない人の顔を簡単に見られるから、勝手に比べてしまい、美容医療に手を出す人が増えている。</a:t>
            </a:r>
            <a:endParaRPr lang="en-US" sz="2100" dirty="0"/>
          </a:p>
        </p:txBody>
      </p:sp>
      <p:sp>
        <p:nvSpPr>
          <p:cNvPr id="8" name="quote-card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3525926"/>
            <a:ext cx="263347" cy="263347"/>
          </a:xfrm>
          <a:prstGeom prst="rect">
            <a:avLst/>
          </a:prstGeom>
        </p:spPr>
      </p:pic>
      <p:sp>
        <p:nvSpPr>
          <p:cNvPr id="11" name="quote-text"/>
          <p:cNvSpPr txBox="1"/>
          <p:nvPr/>
        </p:nvSpPr>
        <p:spPr>
          <a:xfrm>
            <a:off x="1645920" y="33375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ルッキズムが強くなって、整形が「努力」みたいになっている。でも、気にしているなら心の健康のためにするのも良いのかも。</a:t>
            </a:r>
            <a:endParaRPr lang="en-US" sz="2100" dirty="0"/>
          </a:p>
        </p:txBody>
      </p:sp>
      <p:sp>
        <p:nvSpPr>
          <p:cNvPr id="12" name="quote-card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13" name="icon-circle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851806"/>
            <a:ext cx="263347" cy="263347"/>
          </a:xfrm>
          <a:prstGeom prst="rect">
            <a:avLst/>
          </a:prstGeom>
        </p:spPr>
      </p:pic>
      <p:sp>
        <p:nvSpPr>
          <p:cNvPr id="15" name="quote-text"/>
          <p:cNvSpPr txBox="1"/>
          <p:nvPr/>
        </p:nvSpPr>
        <p:spPr>
          <a:xfrm>
            <a:off x="1645920" y="4663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他人に愛されるより、自分が自分を愛せることを求める人が多いんだな。</a:t>
            </a:r>
            <a:endParaRPr lang="en-US" sz="2100" dirty="0"/>
          </a:p>
        </p:txBody>
      </p:sp>
      <p:sp>
        <p:nvSpPr>
          <p:cNvPr id="16" name="point-bar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7" name="point-text"/>
          <p:cNvSpPr txBox="1"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C1"/>
                </a:solidFill>
              </a:rPr>
              <a:t>POINT  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「自分のため」の理想にも、社会の目が入りこんでいない？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考えてみよう ― ひとりで 1分 → となりと共有</a:t>
            </a:r>
            <a:endParaRPr lang="en-US" sz="2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クラスの誰かがこう書いていました。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「自分も周りも、人の体を大切にする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考え方が根本にあったらいいな」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そんな社会にするために、あなたにできることは？</a:t>
            </a:r>
            <a:endParaRPr lang="en-US" sz="2400" dirty="0"/>
          </a:p>
        </p:txBody>
      </p:sp>
      <p:sp>
        <p:nvSpPr>
          <p:cNvPr id="5" name="q-circle"/>
          <p:cNvSpPr/>
          <p:nvPr/>
        </p:nvSpPr>
        <p:spPr>
          <a:xfrm>
            <a:off x="10241280" y="365760"/>
            <a:ext cx="1280160" cy="128016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858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まとめ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今日、持ち帰ってほしい3つの問い</a:t>
            </a:r>
            <a:endParaRPr lang="en-US" sz="3600" dirty="0"/>
          </a:p>
        </p:txBody>
      </p:sp>
      <p:sp>
        <p:nvSpPr>
          <p:cNvPr id="4" name="take-card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5" name="take-num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288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「治す」と「変える」の境目は、誰が、何を基準に決める？</a:t>
            </a:r>
            <a:endParaRPr lang="en-US" sz="2600" dirty="0"/>
          </a:p>
        </p:txBody>
      </p:sp>
      <p:sp>
        <p:nvSpPr>
          <p:cNvPr id="8" name="take-card"/>
          <p:cNvSpPr/>
          <p:nvPr/>
        </p:nvSpPr>
        <p:spPr>
          <a:xfrm>
            <a:off x="640080" y="3063240"/>
            <a:ext cx="108813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9" name="take-num"/>
          <p:cNvSpPr/>
          <p:nvPr/>
        </p:nvSpPr>
        <p:spPr>
          <a:xfrm>
            <a:off x="868680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0632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「自己責任」が成り立つために、何が必要？</a:t>
            </a:r>
            <a:endParaRPr lang="en-US" sz="2600" dirty="0"/>
          </a:p>
        </p:txBody>
      </p:sp>
      <p:sp>
        <p:nvSpPr>
          <p:cNvPr id="12" name="take-card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13636"/>
            </a:avLst>
          </a:prstGeom>
          <a:solidFill>
            <a:schemeClr val="accent5"/>
          </a:solidFill>
          <a:ln/>
        </p:spPr>
      </p:sp>
      <p:sp>
        <p:nvSpPr>
          <p:cNvPr id="13" name="take-num"/>
          <p:cNvSpPr/>
          <p:nvPr/>
        </p:nvSpPr>
        <p:spPr>
          <a:xfrm>
            <a:off x="868680" y="4434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2976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命と大切なものがぶつかる前に、どんな対話ができる？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どれも「正解」はひとつではありません。看護の現場で、何度も出会う問いです。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次回へ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「続きが見たい」「2話を見たい」という声が多数。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「実際の医療現場で、医師や看護師がどう向き合っているのか知りたい」という声も。</a:t>
            </a:r>
            <a:endParaRPr lang="en-US" sz="2400" dirty="0"/>
          </a:p>
          <a:p>
            <a:pPr algn="l" indent="0" marL="0">
              <a:buNone/>
            </a:pP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E9A8C1"/>
                </a:solidFill>
              </a:rPr>
              <a:t>振り返り：今日、友だちの意見で一番揺さぶられたのは？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wntime Feedback">
  <a:themeElements>
    <a:clrScheme name="Downtime Feedback">
      <a:dk1>
        <a:srgbClr val="2B2230"/>
      </a:dk1>
      <a:lt1>
        <a:srgbClr val="FFFFFF"/>
      </a:lt1>
      <a:dk2>
        <a:srgbClr val="4A2245"/>
      </a:dk2>
      <a:lt2>
        <a:srgbClr val="F7E8EF"/>
      </a:lt2>
      <a:accent1>
        <a:srgbClr val="C7487A"/>
      </a:accent1>
      <a:accent2>
        <a:srgbClr val="17796F"/>
      </a:accent2>
      <a:accent3>
        <a:srgbClr val="4A2245"/>
      </a:accent3>
      <a:accent4>
        <a:srgbClr val="E9A8C1"/>
      </a:accent4>
      <a:accent5>
        <a:srgbClr val="E3F2EF"/>
      </a:accent5>
      <a:accent6>
        <a:srgbClr val="6E6470"/>
      </a:accent6>
      <a:hlink>
        <a:srgbClr val="17796F"/>
      </a:hlink>
      <a:folHlink>
        <a:srgbClr val="4A2245"/>
      </a:folHlink>
    </a:clrScheme>
    <a:fontScheme name="Downtime Feedback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ダウンタイム 振り返りフィードバック</dc:title>
  <dc:subject>PptxGenJS Presentation</dc:subject>
  <dc:creator>PptxGenJS</dc:creator>
  <cp:lastModifiedBy>PptxGenJS</cp:lastModifiedBy>
  <cp:revision>1</cp:revision>
  <dcterms:created xsi:type="dcterms:W3CDTF">2026-10-27T02:38:07Z</dcterms:created>
  <dcterms:modified xsi:type="dcterms:W3CDTF">2026-10-27T02:38:07Z</dcterms:modified>
</cp:coreProperties>
</file>